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E88CC4-E354-4DBD-8312-02D34E78F29F}" v="11" dt="2026-08-20T10:51:51.5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104" d="100"/>
          <a:sy n="104" d="100"/>
        </p:scale>
        <p:origin x="8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Casual</c:v>
                </c:pt>
              </c:strCache>
            </c:strRef>
          </c:tx>
          <c:spPr>
            <a:ln w="38100" cap="flat">
              <a:solidFill>
                <a:srgbClr val="3FA9F5"/>
              </a:solidFill>
              <a:prstDash val="solid"/>
              <a:round/>
            </a:ln>
            <a:effectLst/>
          </c:spPr>
          <c:marker>
            <c:symbol val="none"/>
          </c:marker>
          <c:cat>
            <c:strRef>
              <c:f>Sheet1!$A$2:$A$8</c:f>
              <c:strCache>
                <c:ptCount val="7"/>
                <c:pt idx="0">
                  <c:v>Sun</c:v>
                </c:pt>
                <c:pt idx="1">
                  <c:v>Mon</c:v>
                </c:pt>
                <c:pt idx="2">
                  <c:v>Tue</c:v>
                </c:pt>
                <c:pt idx="3">
                  <c:v>Wed</c:v>
                </c:pt>
                <c:pt idx="4">
                  <c:v>Thu</c:v>
                </c:pt>
                <c:pt idx="5">
                  <c:v>Fri</c:v>
                </c:pt>
                <c:pt idx="6">
                  <c:v>Sat</c:v>
                </c:pt>
              </c:strCache>
            </c:strRef>
          </c:cat>
          <c:val>
            <c:numRef>
              <c:f>Sheet1!$B$2:$B$8</c:f>
              <c:numCache>
                <c:formatCode>General</c:formatCode>
                <c:ptCount val="7"/>
                <c:pt idx="0">
                  <c:v>348891</c:v>
                </c:pt>
                <c:pt idx="1">
                  <c:v>238064</c:v>
                </c:pt>
                <c:pt idx="2">
                  <c:v>228006</c:v>
                </c:pt>
                <c:pt idx="3">
                  <c:v>229698</c:v>
                </c:pt>
                <c:pt idx="4">
                  <c:v>259497</c:v>
                </c:pt>
                <c:pt idx="5">
                  <c:v>313539</c:v>
                </c:pt>
                <c:pt idx="6">
                  <c:v>419048</c:v>
                </c:pt>
              </c:numCache>
            </c:numRef>
          </c:val>
          <c:smooth val="0"/>
          <c:extLst>
            <c:ext xmlns:c16="http://schemas.microsoft.com/office/drawing/2014/chart" uri="{C3380CC4-5D6E-409C-BE32-E72D297353CC}">
              <c16:uniqueId val="{00000000-07EF-433B-99BA-FA8F3BBC1BD0}"/>
            </c:ext>
          </c:extLst>
        </c:ser>
        <c:ser>
          <c:idx val="1"/>
          <c:order val="1"/>
          <c:tx>
            <c:strRef>
              <c:f>Sheet1!$C$1</c:f>
              <c:strCache>
                <c:ptCount val="1"/>
                <c:pt idx="0">
                  <c:v>Member</c:v>
                </c:pt>
              </c:strCache>
            </c:strRef>
          </c:tx>
          <c:spPr>
            <a:ln w="38100" cap="flat">
              <a:solidFill>
                <a:srgbClr val="1E2761"/>
              </a:solidFill>
              <a:prstDash val="solid"/>
              <a:round/>
            </a:ln>
            <a:effectLst/>
          </c:spPr>
          <c:marker>
            <c:symbol val="none"/>
          </c:marker>
          <c:cat>
            <c:strRef>
              <c:f>Sheet1!$A$2:$A$8</c:f>
              <c:strCache>
                <c:ptCount val="7"/>
                <c:pt idx="0">
                  <c:v>Sun</c:v>
                </c:pt>
                <c:pt idx="1">
                  <c:v>Mon</c:v>
                </c:pt>
                <c:pt idx="2">
                  <c:v>Tue</c:v>
                </c:pt>
                <c:pt idx="3">
                  <c:v>Wed</c:v>
                </c:pt>
                <c:pt idx="4">
                  <c:v>Thu</c:v>
                </c:pt>
                <c:pt idx="5">
                  <c:v>Fri</c:v>
                </c:pt>
                <c:pt idx="6">
                  <c:v>Sat</c:v>
                </c:pt>
              </c:strCache>
            </c:strRef>
          </c:cat>
          <c:val>
            <c:numRef>
              <c:f>Sheet1!$C$2:$C$8</c:f>
              <c:numCache>
                <c:formatCode>General</c:formatCode>
                <c:ptCount val="7"/>
                <c:pt idx="0">
                  <c:v>407897</c:v>
                </c:pt>
                <c:pt idx="1">
                  <c:v>519347</c:v>
                </c:pt>
                <c:pt idx="2">
                  <c:v>583792</c:v>
                </c:pt>
                <c:pt idx="3">
                  <c:v>585726</c:v>
                </c:pt>
                <c:pt idx="4">
                  <c:v>591995</c:v>
                </c:pt>
                <c:pt idx="5">
                  <c:v>540406</c:v>
                </c:pt>
                <c:pt idx="6">
                  <c:v>461209</c:v>
                </c:pt>
              </c:numCache>
            </c:numRef>
          </c:val>
          <c:smooth val="0"/>
          <c:extLst>
            <c:ext xmlns:c16="http://schemas.microsoft.com/office/drawing/2014/chart" uri="{C3380CC4-5D6E-409C-BE32-E72D297353CC}">
              <c16:uniqueId val="{00000001-07EF-433B-99BA-FA8F3BBC1BD0}"/>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12700" cap="flat">
              <a:solidFill>
                <a:srgbClr val="E8E8E8"/>
              </a:solidFill>
              <a:prstDash val="solid"/>
              <a:round/>
            </a:ln>
          </c:spPr>
        </c:majorGridlines>
        <c:numFmt formatCode="#,##0,&quot;k&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Casual</c:v>
                </c:pt>
              </c:strCache>
            </c:strRef>
          </c:tx>
          <c:spPr>
            <a:ln w="38100" cap="flat">
              <a:solidFill>
                <a:srgbClr val="3FA9F5"/>
              </a:solidFill>
              <a:prstDash val="solid"/>
              <a:round/>
            </a:ln>
            <a:effectLst/>
          </c:spPr>
          <c:marker>
            <c:symbol val="none"/>
          </c:marker>
          <c:cat>
            <c:strRef>
              <c:f>Sheet1!$A$2:$A$13</c:f>
              <c:strCache>
                <c:ptCount val="12"/>
                <c:pt idx="0">
                  <c:v>Jun</c:v>
                </c:pt>
                <c:pt idx="1">
                  <c:v>Jul</c:v>
                </c:pt>
                <c:pt idx="2">
                  <c:v>Aug</c:v>
                </c:pt>
                <c:pt idx="3">
                  <c:v>Sep</c:v>
                </c:pt>
                <c:pt idx="4">
                  <c:v>Oct</c:v>
                </c:pt>
                <c:pt idx="5">
                  <c:v>Nov</c:v>
                </c:pt>
                <c:pt idx="6">
                  <c:v>Dec</c:v>
                </c:pt>
                <c:pt idx="7">
                  <c:v>Jan</c:v>
                </c:pt>
                <c:pt idx="8">
                  <c:v>Feb</c:v>
                </c:pt>
                <c:pt idx="9">
                  <c:v>Mar</c:v>
                </c:pt>
                <c:pt idx="10">
                  <c:v>Apr</c:v>
                </c:pt>
                <c:pt idx="11">
                  <c:v>May</c:v>
                </c:pt>
              </c:strCache>
            </c:strRef>
          </c:cat>
          <c:val>
            <c:numRef>
              <c:f>Sheet1!$B$2:$B$13</c:f>
              <c:numCache>
                <c:formatCode>General</c:formatCode>
                <c:ptCount val="12"/>
                <c:pt idx="0">
                  <c:v>282154</c:v>
                </c:pt>
                <c:pt idx="1">
                  <c:v>312347</c:v>
                </c:pt>
                <c:pt idx="2">
                  <c:v>327241</c:v>
                </c:pt>
                <c:pt idx="3">
                  <c:v>257493</c:v>
                </c:pt>
                <c:pt idx="4">
                  <c:v>217111</c:v>
                </c:pt>
                <c:pt idx="5">
                  <c:v>95985</c:v>
                </c:pt>
                <c:pt idx="6">
                  <c:v>27381</c:v>
                </c:pt>
                <c:pt idx="7">
                  <c:v>24121</c:v>
                </c:pt>
                <c:pt idx="8">
                  <c:v>40345</c:v>
                </c:pt>
                <c:pt idx="9">
                  <c:v>85662</c:v>
                </c:pt>
                <c:pt idx="10">
                  <c:v>128271</c:v>
                </c:pt>
                <c:pt idx="11">
                  <c:v>238632</c:v>
                </c:pt>
              </c:numCache>
            </c:numRef>
          </c:val>
          <c:smooth val="0"/>
          <c:extLst>
            <c:ext xmlns:c16="http://schemas.microsoft.com/office/drawing/2014/chart" uri="{C3380CC4-5D6E-409C-BE32-E72D297353CC}">
              <c16:uniqueId val="{00000000-4314-4053-80AE-BC67C2B9A88A}"/>
            </c:ext>
          </c:extLst>
        </c:ser>
        <c:ser>
          <c:idx val="1"/>
          <c:order val="1"/>
          <c:tx>
            <c:strRef>
              <c:f>Sheet1!$C$1</c:f>
              <c:strCache>
                <c:ptCount val="1"/>
                <c:pt idx="0">
                  <c:v>Member</c:v>
                </c:pt>
              </c:strCache>
            </c:strRef>
          </c:tx>
          <c:spPr>
            <a:ln w="38100" cap="flat">
              <a:solidFill>
                <a:srgbClr val="1E2761"/>
              </a:solidFill>
              <a:prstDash val="solid"/>
              <a:round/>
            </a:ln>
            <a:effectLst/>
          </c:spPr>
          <c:marker>
            <c:symbol val="none"/>
          </c:marker>
          <c:cat>
            <c:strRef>
              <c:f>Sheet1!$A$2:$A$13</c:f>
              <c:strCache>
                <c:ptCount val="12"/>
                <c:pt idx="0">
                  <c:v>Jun</c:v>
                </c:pt>
                <c:pt idx="1">
                  <c:v>Jul</c:v>
                </c:pt>
                <c:pt idx="2">
                  <c:v>Aug</c:v>
                </c:pt>
                <c:pt idx="3">
                  <c:v>Sep</c:v>
                </c:pt>
                <c:pt idx="4">
                  <c:v>Oct</c:v>
                </c:pt>
                <c:pt idx="5">
                  <c:v>Nov</c:v>
                </c:pt>
                <c:pt idx="6">
                  <c:v>Dec</c:v>
                </c:pt>
                <c:pt idx="7">
                  <c:v>Jan</c:v>
                </c:pt>
                <c:pt idx="8">
                  <c:v>Feb</c:v>
                </c:pt>
                <c:pt idx="9">
                  <c:v>Mar</c:v>
                </c:pt>
                <c:pt idx="10">
                  <c:v>Apr</c:v>
                </c:pt>
                <c:pt idx="11">
                  <c:v>May</c:v>
                </c:pt>
              </c:strCache>
            </c:strRef>
          </c:cat>
          <c:val>
            <c:numRef>
              <c:f>Sheet1!$C$2:$C$13</c:f>
              <c:numCache>
                <c:formatCode>General</c:formatCode>
                <c:ptCount val="12"/>
                <c:pt idx="0">
                  <c:v>381124</c:v>
                </c:pt>
                <c:pt idx="1">
                  <c:v>433246</c:v>
                </c:pt>
                <c:pt idx="2">
                  <c:v>445632</c:v>
                </c:pt>
                <c:pt idx="3">
                  <c:v>443266</c:v>
                </c:pt>
                <c:pt idx="4">
                  <c:v>416434</c:v>
                </c:pt>
                <c:pt idx="5">
                  <c:v>253579</c:v>
                </c:pt>
                <c:pt idx="6">
                  <c:v>110087</c:v>
                </c:pt>
                <c:pt idx="7">
                  <c:v>110708</c:v>
                </c:pt>
                <c:pt idx="8">
                  <c:v>158140</c:v>
                </c:pt>
                <c:pt idx="9">
                  <c:v>225355</c:v>
                </c:pt>
                <c:pt idx="10">
                  <c:v>310665</c:v>
                </c:pt>
                <c:pt idx="11">
                  <c:v>402136</c:v>
                </c:pt>
              </c:numCache>
            </c:numRef>
          </c:val>
          <c:smooth val="0"/>
          <c:extLst>
            <c:ext xmlns:c16="http://schemas.microsoft.com/office/drawing/2014/chart" uri="{C3380CC4-5D6E-409C-BE32-E72D297353CC}">
              <c16:uniqueId val="{00000001-4314-4053-80AE-BC67C2B9A88A}"/>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12700" cap="flat">
              <a:solidFill>
                <a:srgbClr val="E8E8E8"/>
              </a:solidFill>
              <a:prstDash val="solid"/>
              <a:round/>
            </a:ln>
          </c:spPr>
        </c:majorGridlines>
        <c:numFmt formatCode="#,##0,&quot;k&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Casual</c:v>
                </c:pt>
              </c:strCache>
            </c:strRef>
          </c:tx>
          <c:spPr>
            <a:solidFill>
              <a:srgbClr val="3FA9F5"/>
            </a:solidFill>
            <a:effectLst/>
          </c:spPr>
          <c:invertIfNegative val="0"/>
          <c:cat>
            <c:strRef>
              <c:f>Sheet1!$A$2:$A$11</c:f>
              <c:strCache>
                <c:ptCount val="10"/>
                <c:pt idx="0">
                  <c:v>Michigan Ave &amp; 8th</c:v>
                </c:pt>
                <c:pt idx="1">
                  <c:v>Streeter Dr &amp; Grand</c:v>
                </c:pt>
                <c:pt idx="2">
                  <c:v>DuSable Harbor</c:v>
                </c:pt>
                <c:pt idx="3">
                  <c:v>Theater on the Lake</c:v>
                </c:pt>
                <c:pt idx="4">
                  <c:v>Shedd Aquarium</c:v>
                </c:pt>
                <c:pt idx="5">
                  <c:v>Millennium Park</c:v>
                </c:pt>
                <c:pt idx="6">
                  <c:v>DuSable LSD &amp; North</c:v>
                </c:pt>
                <c:pt idx="7">
                  <c:v>Michigan Ave &amp; Oak</c:v>
                </c:pt>
                <c:pt idx="8">
                  <c:v>DuSable LSD &amp; Monroe</c:v>
                </c:pt>
                <c:pt idx="9">
                  <c:v>Navy Pier</c:v>
                </c:pt>
              </c:strCache>
            </c:strRef>
          </c:cat>
          <c:val>
            <c:numRef>
              <c:f>Sheet1!$B$2:$B$11</c:f>
              <c:numCache>
                <c:formatCode>General</c:formatCode>
                <c:ptCount val="10"/>
                <c:pt idx="0">
                  <c:v>11076</c:v>
                </c:pt>
                <c:pt idx="1">
                  <c:v>15001</c:v>
                </c:pt>
                <c:pt idx="2">
                  <c:v>15336</c:v>
                </c:pt>
                <c:pt idx="3">
                  <c:v>16294</c:v>
                </c:pt>
                <c:pt idx="4">
                  <c:v>16938</c:v>
                </c:pt>
                <c:pt idx="5">
                  <c:v>18847</c:v>
                </c:pt>
                <c:pt idx="6">
                  <c:v>19948</c:v>
                </c:pt>
                <c:pt idx="7">
                  <c:v>22954</c:v>
                </c:pt>
                <c:pt idx="8">
                  <c:v>32406</c:v>
                </c:pt>
                <c:pt idx="9">
                  <c:v>38411</c:v>
                </c:pt>
              </c:numCache>
            </c:numRef>
          </c:val>
          <c:extLst>
            <c:ext xmlns:c16="http://schemas.microsoft.com/office/drawing/2014/chart" uri="{C3380CC4-5D6E-409C-BE32-E72D297353CC}">
              <c16:uniqueId val="{00000000-74B8-45AB-8AF4-A00E533E1239}"/>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2"/>
        <c:crosses val="autoZero"/>
        <c:auto val="1"/>
        <c:lblAlgn val="ctr"/>
        <c:lblOffset val="100"/>
        <c:noMultiLvlLbl val="1"/>
      </c:catAx>
      <c:valAx>
        <c:axId val="2094734552"/>
        <c:scaling>
          <c:orientation val="minMax"/>
          <c:max val="40000"/>
          <c:min val="0"/>
        </c:scaling>
        <c:delete val="0"/>
        <c:axPos val="b"/>
        <c:majorGridlines>
          <c:spPr>
            <a:ln w="12700" cap="flat">
              <a:solidFill>
                <a:srgbClr val="E8E8E8"/>
              </a:solidFill>
              <a:prstDash val="solid"/>
              <a:round/>
            </a:ln>
          </c:spPr>
        </c:majorGridlines>
        <c:numFmt formatCode="#,##0,&quot;k&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Member</c:v>
                </c:pt>
              </c:strCache>
            </c:strRef>
          </c:tx>
          <c:spPr>
            <a:solidFill>
              <a:srgbClr val="1E2761"/>
            </a:solidFill>
            <a:effectLst/>
          </c:spPr>
          <c:invertIfNegative val="0"/>
          <c:cat>
            <c:strRef>
              <c:f>Sheet1!$A$2:$A$11</c:f>
              <c:strCache>
                <c:ptCount val="10"/>
                <c:pt idx="0">
                  <c:v>Wells &amp; Huron</c:v>
                </c:pt>
                <c:pt idx="1">
                  <c:v>Clinton &amp; Jackson</c:v>
                </c:pt>
                <c:pt idx="2">
                  <c:v>Clark &amp; Elm</c:v>
                </c:pt>
                <c:pt idx="3">
                  <c:v>Wells &amp; Concord</c:v>
                </c:pt>
                <c:pt idx="4">
                  <c:v>Wells &amp; Elm</c:v>
                </c:pt>
                <c:pt idx="5">
                  <c:v>Kingsbury &amp; Kinzie</c:v>
                </c:pt>
                <c:pt idx="6">
                  <c:v>Clinton &amp; Madison</c:v>
                </c:pt>
                <c:pt idx="7">
                  <c:v>State &amp; Chicago</c:v>
                </c:pt>
                <c:pt idx="8">
                  <c:v>Clinton &amp; Washington</c:v>
                </c:pt>
                <c:pt idx="9">
                  <c:v>Canal &amp; Madison</c:v>
                </c:pt>
              </c:strCache>
            </c:strRef>
          </c:cat>
          <c:val>
            <c:numRef>
              <c:f>Sheet1!$B$2:$B$11</c:f>
              <c:numCache>
                <c:formatCode>General</c:formatCode>
                <c:ptCount val="10"/>
                <c:pt idx="0">
                  <c:v>18189</c:v>
                </c:pt>
                <c:pt idx="1">
                  <c:v>18665</c:v>
                </c:pt>
                <c:pt idx="2">
                  <c:v>18779</c:v>
                </c:pt>
                <c:pt idx="3">
                  <c:v>18950</c:v>
                </c:pt>
                <c:pt idx="4">
                  <c:v>19256</c:v>
                </c:pt>
                <c:pt idx="5">
                  <c:v>20239</c:v>
                </c:pt>
                <c:pt idx="6">
                  <c:v>20259</c:v>
                </c:pt>
                <c:pt idx="7">
                  <c:v>20405</c:v>
                </c:pt>
                <c:pt idx="8">
                  <c:v>20705</c:v>
                </c:pt>
                <c:pt idx="9">
                  <c:v>22339</c:v>
                </c:pt>
              </c:numCache>
            </c:numRef>
          </c:val>
          <c:extLst>
            <c:ext xmlns:c16="http://schemas.microsoft.com/office/drawing/2014/chart" uri="{C3380CC4-5D6E-409C-BE32-E72D297353CC}">
              <c16:uniqueId val="{00000000-0A30-4CB5-B6C4-B97AF3F77B07}"/>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Calibri"/>
              </a:defRPr>
            </a:pPr>
            <a:endParaRPr lang="en-US"/>
          </a:p>
        </c:txPr>
        <c:crossAx val="2094734552"/>
        <c:crosses val="autoZero"/>
        <c:auto val="1"/>
        <c:lblAlgn val="ctr"/>
        <c:lblOffset val="100"/>
        <c:noMultiLvlLbl val="1"/>
      </c:catAx>
      <c:valAx>
        <c:axId val="2094734552"/>
        <c:scaling>
          <c:orientation val="minMax"/>
          <c:max val="40000"/>
          <c:min val="0"/>
        </c:scaling>
        <c:delete val="0"/>
        <c:axPos val="b"/>
        <c:majorGridlines>
          <c:spPr>
            <a:ln w="12700" cap="flat">
              <a:solidFill>
                <a:srgbClr val="E8E8E8"/>
              </a:solidFill>
              <a:prstDash val="solid"/>
              <a:round/>
            </a:ln>
          </c:spPr>
        </c:majorGridlines>
        <c:numFmt formatCode="#,##0,&quot;k&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61010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business task is conversion: turning casual riders into annual members. To do that we first need to know how the two groups actually differ. Five measures, one consistent answer.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Two opposite shapes. Members form an inverted U with a midweek peak. Casual riders form a U with weekend peaks. The consistency of member ride length is the tell same length, same hours, five days a week.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the constraint on the whole conversion strategy. An annual membership asks for a twelve-month commitment from an audience that rides for about five.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Station coordinates were checked on a map. Members start in the West Loop commuter corridor near Union Station and in the Near North Side — the places people travel from, not the destination. This analysis excludes the 21% of rides with no station name.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Recommendation two is the one to press. The others are marketing adjustments; this one says the product itself may be wrong for this audience.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Including this slide is deliberate. It shows the limits were considered rather than missed, and it pre-empts the questions an executive would otherwise ask.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822960" y="1828800"/>
            <a:ext cx="10515600" cy="1737360"/>
          </a:xfrm>
          <a:prstGeom prst="rect">
            <a:avLst/>
          </a:prstGeom>
          <a:noFill/>
          <a:ln/>
        </p:spPr>
        <p:txBody>
          <a:bodyPr wrap="square" lIns="0" tIns="0" rIns="0" bIns="0" rtlCol="0" anchor="ctr"/>
          <a:lstStyle/>
          <a:p>
            <a:pPr marL="0" indent="0">
              <a:lnSpc>
                <a:spcPts val="4400"/>
              </a:lnSpc>
              <a:buNone/>
            </a:pPr>
            <a:r>
              <a:rPr lang="en-US" sz="3400" b="1" dirty="0">
                <a:solidFill>
                  <a:srgbClr val="FFFFFF"/>
                </a:solidFill>
                <a:latin typeface="Cambria" pitchFamily="34" charset="0"/>
                <a:ea typeface="Cambria" pitchFamily="34" charset="-122"/>
                <a:cs typeface="Cambria" pitchFamily="34" charset="-120"/>
              </a:rPr>
              <a:t>How do annual members and casual riders</a:t>
            </a:r>
            <a:endParaRPr lang="en-US" sz="3400" dirty="0"/>
          </a:p>
          <a:p>
            <a:pPr marL="0" indent="0">
              <a:lnSpc>
                <a:spcPts val="4400"/>
              </a:lnSpc>
              <a:buNone/>
            </a:pPr>
            <a:r>
              <a:rPr lang="en-US" sz="3400" b="1" dirty="0">
                <a:solidFill>
                  <a:srgbClr val="FFFFFF"/>
                </a:solidFill>
                <a:latin typeface="Cambria" pitchFamily="34" charset="0"/>
                <a:ea typeface="Cambria" pitchFamily="34" charset="-122"/>
                <a:cs typeface="Cambria" pitchFamily="34" charset="-120"/>
              </a:rPr>
              <a:t>use Cyclistic differently?</a:t>
            </a:r>
            <a:endParaRPr lang="en-US" sz="3400" dirty="0"/>
          </a:p>
        </p:txBody>
      </p:sp>
      <p:sp>
        <p:nvSpPr>
          <p:cNvPr id="3" name="Text 1"/>
          <p:cNvSpPr/>
          <p:nvPr/>
        </p:nvSpPr>
        <p:spPr>
          <a:xfrm>
            <a:off x="822960" y="3611880"/>
            <a:ext cx="10515600" cy="365760"/>
          </a:xfrm>
          <a:prstGeom prst="rect">
            <a:avLst/>
          </a:prstGeom>
          <a:noFill/>
          <a:ln/>
        </p:spPr>
        <p:txBody>
          <a:bodyPr wrap="square" lIns="0" tIns="0" rIns="0" bIns="0" rtlCol="0" anchor="ctr"/>
          <a:lstStyle/>
          <a:p>
            <a:pPr marL="0" indent="0">
              <a:buNone/>
            </a:pPr>
            <a:r>
              <a:rPr lang="en-US" sz="1700" i="1" dirty="0">
                <a:solidFill>
                  <a:srgbClr val="3FA9F5"/>
                </a:solidFill>
                <a:latin typeface="Calibri" pitchFamily="34" charset="0"/>
                <a:ea typeface="Calibri" pitchFamily="34" charset="-122"/>
                <a:cs typeface="Calibri" pitchFamily="34" charset="-120"/>
              </a:rPr>
              <a:t>Five million rides, one clear answer</a:t>
            </a:r>
            <a:endParaRPr lang="en-US" sz="1700" dirty="0"/>
          </a:p>
        </p:txBody>
      </p:sp>
      <p:sp>
        <p:nvSpPr>
          <p:cNvPr id="4" name="Text 2"/>
          <p:cNvSpPr/>
          <p:nvPr/>
        </p:nvSpPr>
        <p:spPr>
          <a:xfrm>
            <a:off x="822960" y="4572000"/>
            <a:ext cx="32004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5,727,115</a:t>
            </a:r>
            <a:endParaRPr lang="en-US" sz="3000" dirty="0"/>
          </a:p>
        </p:txBody>
      </p:sp>
      <p:sp>
        <p:nvSpPr>
          <p:cNvPr id="5" name="Text 3"/>
          <p:cNvSpPr/>
          <p:nvPr/>
        </p:nvSpPr>
        <p:spPr>
          <a:xfrm>
            <a:off x="822960" y="5138928"/>
            <a:ext cx="3200400" cy="310896"/>
          </a:xfrm>
          <a:prstGeom prst="rect">
            <a:avLst/>
          </a:prstGeom>
          <a:noFill/>
          <a:ln/>
        </p:spPr>
        <p:txBody>
          <a:bodyPr wrap="square" lIns="0" tIns="0" rIns="0" bIns="0" rtlCol="0" anchor="ctr"/>
          <a:lstStyle/>
          <a:p>
            <a:pPr marL="0" indent="0">
              <a:buNone/>
            </a:pPr>
            <a:r>
              <a:rPr lang="en-US" sz="1200" dirty="0">
                <a:solidFill>
                  <a:srgbClr val="3FA9F5"/>
                </a:solidFill>
                <a:latin typeface="Calibri" pitchFamily="34" charset="0"/>
                <a:ea typeface="Calibri" pitchFamily="34" charset="-122"/>
                <a:cs typeface="Calibri" pitchFamily="34" charset="-120"/>
              </a:rPr>
              <a:t>rides analysed</a:t>
            </a:r>
            <a:endParaRPr lang="en-US" sz="1200" dirty="0"/>
          </a:p>
        </p:txBody>
      </p:sp>
      <p:sp>
        <p:nvSpPr>
          <p:cNvPr id="6" name="Text 4"/>
          <p:cNvSpPr/>
          <p:nvPr/>
        </p:nvSpPr>
        <p:spPr>
          <a:xfrm>
            <a:off x="4389120" y="4572000"/>
            <a:ext cx="32004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12 months</a:t>
            </a:r>
            <a:endParaRPr lang="en-US" sz="3000" dirty="0"/>
          </a:p>
        </p:txBody>
      </p:sp>
      <p:sp>
        <p:nvSpPr>
          <p:cNvPr id="7" name="Text 5"/>
          <p:cNvSpPr/>
          <p:nvPr/>
        </p:nvSpPr>
        <p:spPr>
          <a:xfrm>
            <a:off x="4389120" y="5138928"/>
            <a:ext cx="3200400" cy="310896"/>
          </a:xfrm>
          <a:prstGeom prst="rect">
            <a:avLst/>
          </a:prstGeom>
          <a:noFill/>
          <a:ln/>
        </p:spPr>
        <p:txBody>
          <a:bodyPr wrap="square" lIns="0" tIns="0" rIns="0" bIns="0" rtlCol="0" anchor="ctr"/>
          <a:lstStyle/>
          <a:p>
            <a:pPr marL="0" indent="0">
              <a:buNone/>
            </a:pPr>
            <a:r>
              <a:rPr lang="en-US" sz="1200" dirty="0">
                <a:solidFill>
                  <a:srgbClr val="3FA9F5"/>
                </a:solidFill>
                <a:latin typeface="Calibri" pitchFamily="34" charset="0"/>
                <a:ea typeface="Calibri" pitchFamily="34" charset="-122"/>
                <a:cs typeface="Calibri" pitchFamily="34" charset="-120"/>
              </a:rPr>
              <a:t>Jun 2025 – May 2026</a:t>
            </a:r>
            <a:endParaRPr lang="en-US" sz="1200" dirty="0"/>
          </a:p>
        </p:txBody>
      </p:sp>
      <p:sp>
        <p:nvSpPr>
          <p:cNvPr id="8" name="Text 6"/>
          <p:cNvSpPr/>
          <p:nvPr/>
        </p:nvSpPr>
        <p:spPr>
          <a:xfrm>
            <a:off x="7955280" y="4572000"/>
            <a:ext cx="32004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9" name="Text 7"/>
          <p:cNvSpPr/>
          <p:nvPr/>
        </p:nvSpPr>
        <p:spPr>
          <a:xfrm>
            <a:off x="7955280" y="5138928"/>
            <a:ext cx="3200400" cy="310896"/>
          </a:xfrm>
          <a:prstGeom prst="rect">
            <a:avLst/>
          </a:prstGeom>
          <a:noFill/>
          <a:ln/>
        </p:spPr>
        <p:txBody>
          <a:bodyPr wrap="square" lIns="0" tIns="0" rIns="0" bIns="0" rtlCol="0" anchor="ctr"/>
          <a:lstStyle/>
          <a:p>
            <a:pPr marL="0" indent="0">
              <a:buNone/>
            </a:pPr>
            <a:r>
              <a:rPr lang="en-US" sz="1200" dirty="0">
                <a:solidFill>
                  <a:srgbClr val="3FA9F5"/>
                </a:solidFill>
                <a:latin typeface="Calibri" pitchFamily="34" charset="0"/>
                <a:ea typeface="Calibri" pitchFamily="34" charset="-122"/>
                <a:cs typeface="Calibri" pitchFamily="34" charset="-120"/>
              </a:rPr>
              <a:t>dimensions compared</a:t>
            </a:r>
            <a:endParaRPr lang="en-US" sz="1200" dirty="0"/>
          </a:p>
        </p:txBody>
      </p:sp>
      <p:sp>
        <p:nvSpPr>
          <p:cNvPr id="10" name="Text 8"/>
          <p:cNvSpPr/>
          <p:nvPr/>
        </p:nvSpPr>
        <p:spPr>
          <a:xfrm>
            <a:off x="822960" y="6144768"/>
            <a:ext cx="10515600" cy="292608"/>
          </a:xfrm>
          <a:prstGeom prst="rect">
            <a:avLst/>
          </a:prstGeom>
          <a:noFill/>
          <a:ln/>
        </p:spPr>
        <p:txBody>
          <a:bodyPr wrap="square" lIns="0" tIns="0" rIns="0" bIns="0" rtlCol="0" anchor="ctr"/>
          <a:lstStyle/>
          <a:p>
            <a:pPr marL="0" indent="0">
              <a:buNone/>
            </a:pPr>
            <a:r>
              <a:rPr lang="en-US" sz="1000" dirty="0">
                <a:solidFill>
                  <a:srgbClr val="8FA3C8"/>
                </a:solidFill>
                <a:latin typeface="Calibri" pitchFamily="34" charset="0"/>
                <a:ea typeface="Calibri" pitchFamily="34" charset="-122"/>
                <a:cs typeface="Calibri" pitchFamily="34" charset="-120"/>
              </a:rPr>
              <a:t>Prepared for Lily Moreno and the executive team  ·  Divvy trip data under the Cyclistic case framing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The two groups peak on opposite days</a:t>
            </a:r>
            <a:endParaRPr lang="en-US" sz="3000" dirty="0"/>
          </a:p>
        </p:txBody>
      </p:sp>
      <p:sp>
        <p:nvSpPr>
          <p:cNvPr id="3" name="Text 1"/>
          <p:cNvSpPr/>
          <p:nvPr/>
        </p:nvSpPr>
        <p:spPr>
          <a:xfrm>
            <a:off x="548640" y="1042416"/>
            <a:ext cx="11064240" cy="310896"/>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Rides by day of week</a:t>
            </a:r>
            <a:endParaRPr lang="en-US" sz="1400" dirty="0"/>
          </a:p>
        </p:txBody>
      </p:sp>
      <p:graphicFrame>
        <p:nvGraphicFramePr>
          <p:cNvPr id="4" name="Chart 0"/>
          <p:cNvGraphicFramePr/>
          <p:nvPr/>
        </p:nvGraphicFramePr>
        <p:xfrm>
          <a:off x="457200" y="1600200"/>
          <a:ext cx="749808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6537960" y="4160520"/>
            <a:ext cx="1188720" cy="274320"/>
          </a:xfrm>
          <a:prstGeom prst="rect">
            <a:avLst/>
          </a:prstGeom>
          <a:noFill/>
          <a:ln/>
        </p:spPr>
        <p:txBody>
          <a:bodyPr wrap="square" lIns="0" tIns="0" rIns="0" bIns="0" rtlCol="0" anchor="ctr"/>
          <a:lstStyle/>
          <a:p>
            <a:pPr marL="0" indent="0">
              <a:buNone/>
            </a:pPr>
            <a:r>
              <a:rPr lang="en-US" sz="1300" b="1" dirty="0">
                <a:solidFill>
                  <a:srgbClr val="3FA9F5"/>
                </a:solidFill>
                <a:latin typeface="Calibri" pitchFamily="34" charset="0"/>
                <a:ea typeface="Calibri" pitchFamily="34" charset="-122"/>
                <a:cs typeface="Calibri" pitchFamily="34" charset="-120"/>
              </a:rPr>
              <a:t>Casual</a:t>
            </a:r>
            <a:endParaRPr lang="en-US" sz="1300" dirty="0"/>
          </a:p>
        </p:txBody>
      </p:sp>
      <p:sp>
        <p:nvSpPr>
          <p:cNvPr id="6" name="Text 3"/>
          <p:cNvSpPr/>
          <p:nvPr/>
        </p:nvSpPr>
        <p:spPr>
          <a:xfrm>
            <a:off x="6537960" y="2212848"/>
            <a:ext cx="118872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Member</a:t>
            </a:r>
            <a:endParaRPr lang="en-US" sz="1300" dirty="0"/>
          </a:p>
        </p:txBody>
      </p:sp>
      <p:sp>
        <p:nvSpPr>
          <p:cNvPr id="7" name="Text 4"/>
          <p:cNvSpPr/>
          <p:nvPr/>
        </p:nvSpPr>
        <p:spPr>
          <a:xfrm>
            <a:off x="8321040" y="1920240"/>
            <a:ext cx="3383280" cy="329184"/>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Members</a:t>
            </a:r>
            <a:endParaRPr lang="en-US" sz="1600" dirty="0"/>
          </a:p>
        </p:txBody>
      </p:sp>
      <p:sp>
        <p:nvSpPr>
          <p:cNvPr id="8" name="Text 5"/>
          <p:cNvSpPr/>
          <p:nvPr/>
        </p:nvSpPr>
        <p:spPr>
          <a:xfrm>
            <a:off x="8321040" y="2304288"/>
            <a:ext cx="3383280" cy="1280160"/>
          </a:xfrm>
          <a:prstGeom prst="rect">
            <a:avLst/>
          </a:prstGeom>
          <a:noFill/>
          <a:ln/>
        </p:spPr>
        <p:txBody>
          <a:bodyPr wrap="square" lIns="0" tIns="0" rIns="0" bIns="0" rtlCol="0" anchor="ctr"/>
          <a:lstStyle/>
          <a:p>
            <a:pPr marL="0" indent="0">
              <a:lnSpc>
                <a:spcPts val="1900"/>
              </a:lnSpc>
              <a:buNone/>
            </a:pPr>
            <a:r>
              <a:rPr lang="en-US" sz="1300" dirty="0">
                <a:solidFill>
                  <a:srgbClr val="1A1A1A"/>
                </a:solidFill>
                <a:latin typeface="Calibri" pitchFamily="34" charset="0"/>
                <a:ea typeface="Calibri" pitchFamily="34" charset="-122"/>
                <a:cs typeface="Calibri" pitchFamily="34" charset="-120"/>
              </a:rPr>
              <a:t>Peak Thursday, trough Sunday. Ride length varies by under 2 minutes all week, the signature of a repeated journey.</a:t>
            </a:r>
            <a:endParaRPr lang="en-US" sz="1300" dirty="0"/>
          </a:p>
        </p:txBody>
      </p:sp>
      <p:sp>
        <p:nvSpPr>
          <p:cNvPr id="9" name="Text 6"/>
          <p:cNvSpPr/>
          <p:nvPr/>
        </p:nvSpPr>
        <p:spPr>
          <a:xfrm>
            <a:off x="8321040" y="3749040"/>
            <a:ext cx="3383280" cy="329184"/>
          </a:xfrm>
          <a:prstGeom prst="rect">
            <a:avLst/>
          </a:prstGeom>
          <a:noFill/>
          <a:ln/>
        </p:spPr>
        <p:txBody>
          <a:bodyPr wrap="square" lIns="0" tIns="0" rIns="0" bIns="0" rtlCol="0" anchor="ctr"/>
          <a:lstStyle/>
          <a:p>
            <a:pPr marL="0" indent="0">
              <a:buNone/>
            </a:pPr>
            <a:r>
              <a:rPr lang="en-US" sz="1600" b="1" dirty="0">
                <a:solidFill>
                  <a:srgbClr val="3FA9F5"/>
                </a:solidFill>
                <a:latin typeface="Calibri" pitchFamily="34" charset="0"/>
                <a:ea typeface="Calibri" pitchFamily="34" charset="-122"/>
                <a:cs typeface="Calibri" pitchFamily="34" charset="-120"/>
              </a:rPr>
              <a:t>Casual riders</a:t>
            </a:r>
            <a:endParaRPr lang="en-US" sz="1600" dirty="0"/>
          </a:p>
        </p:txBody>
      </p:sp>
      <p:sp>
        <p:nvSpPr>
          <p:cNvPr id="10" name="Text 7"/>
          <p:cNvSpPr/>
          <p:nvPr/>
        </p:nvSpPr>
        <p:spPr>
          <a:xfrm>
            <a:off x="8321040" y="4133088"/>
            <a:ext cx="3383280" cy="1280160"/>
          </a:xfrm>
          <a:prstGeom prst="rect">
            <a:avLst/>
          </a:prstGeom>
          <a:noFill/>
          <a:ln/>
        </p:spPr>
        <p:txBody>
          <a:bodyPr wrap="square" lIns="0" tIns="0" rIns="0" bIns="0" rtlCol="0" anchor="ctr"/>
          <a:lstStyle/>
          <a:p>
            <a:pPr marL="0" indent="0">
              <a:lnSpc>
                <a:spcPts val="1900"/>
              </a:lnSpc>
              <a:buNone/>
            </a:pPr>
            <a:r>
              <a:rPr lang="en-US" sz="1300" dirty="0">
                <a:solidFill>
                  <a:srgbClr val="1A1A1A"/>
                </a:solidFill>
                <a:latin typeface="Calibri" pitchFamily="34" charset="0"/>
                <a:ea typeface="Calibri" pitchFamily="34" charset="-122"/>
                <a:cs typeface="Calibri" pitchFamily="34" charset="-120"/>
              </a:rPr>
              <a:t>Peak Saturday, 84% busier than Tuesday. Duration swings 40% across the week.</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Members ride at commuting hours; casual riders do not</a:t>
            </a:r>
            <a:endParaRPr lang="en-US" sz="3000" dirty="0"/>
          </a:p>
        </p:txBody>
      </p:sp>
      <p:sp>
        <p:nvSpPr>
          <p:cNvPr id="3" name="Text 1"/>
          <p:cNvSpPr/>
          <p:nvPr/>
        </p:nvSpPr>
        <p:spPr>
          <a:xfrm>
            <a:off x="548640" y="1042416"/>
            <a:ext cx="11064240" cy="310896"/>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Rides by hour of day</a:t>
            </a:r>
            <a:endParaRPr lang="en-US" sz="1400" dirty="0"/>
          </a:p>
        </p:txBody>
      </p:sp>
      <p:sp>
        <p:nvSpPr>
          <p:cNvPr id="6" name="Text 4"/>
          <p:cNvSpPr/>
          <p:nvPr/>
        </p:nvSpPr>
        <p:spPr>
          <a:xfrm>
            <a:off x="8321040" y="1920240"/>
            <a:ext cx="3383280" cy="329184"/>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Members</a:t>
            </a:r>
            <a:endParaRPr lang="en-US" sz="1600" dirty="0"/>
          </a:p>
        </p:txBody>
      </p:sp>
      <p:sp>
        <p:nvSpPr>
          <p:cNvPr id="7" name="Text 5"/>
          <p:cNvSpPr/>
          <p:nvPr/>
        </p:nvSpPr>
        <p:spPr>
          <a:xfrm>
            <a:off x="8321040" y="2304288"/>
            <a:ext cx="3383280" cy="1280160"/>
          </a:xfrm>
          <a:prstGeom prst="rect">
            <a:avLst/>
          </a:prstGeom>
          <a:noFill/>
          <a:ln/>
        </p:spPr>
        <p:txBody>
          <a:bodyPr wrap="square" lIns="0" tIns="0" rIns="0" bIns="0" rtlCol="0" anchor="ctr"/>
          <a:lstStyle/>
          <a:p>
            <a:pPr marL="0" indent="0">
              <a:lnSpc>
                <a:spcPts val="1900"/>
              </a:lnSpc>
              <a:buNone/>
            </a:pPr>
            <a:r>
              <a:rPr lang="en-US" sz="1300" dirty="0">
                <a:solidFill>
                  <a:srgbClr val="1A1A1A"/>
                </a:solidFill>
                <a:latin typeface="Calibri" pitchFamily="34" charset="0"/>
                <a:ea typeface="Calibri" pitchFamily="34" charset="-122"/>
                <a:cs typeface="Calibri" pitchFamily="34" charset="-120"/>
              </a:rPr>
              <a:t>Twin peaks: 269,314 rides at 8am, 399,013 at 5pm, with a clear trough between.</a:t>
            </a:r>
            <a:endParaRPr lang="en-US" sz="1300" dirty="0"/>
          </a:p>
        </p:txBody>
      </p:sp>
      <p:sp>
        <p:nvSpPr>
          <p:cNvPr id="8" name="Text 6"/>
          <p:cNvSpPr/>
          <p:nvPr/>
        </p:nvSpPr>
        <p:spPr>
          <a:xfrm>
            <a:off x="8321040" y="3749040"/>
            <a:ext cx="3383280" cy="329184"/>
          </a:xfrm>
          <a:prstGeom prst="rect">
            <a:avLst/>
          </a:prstGeom>
          <a:noFill/>
          <a:ln/>
        </p:spPr>
        <p:txBody>
          <a:bodyPr wrap="square" lIns="0" tIns="0" rIns="0" bIns="0" rtlCol="0" anchor="ctr"/>
          <a:lstStyle/>
          <a:p>
            <a:pPr marL="0" indent="0">
              <a:buNone/>
            </a:pPr>
            <a:r>
              <a:rPr lang="en-US" sz="1600" b="1" dirty="0">
                <a:solidFill>
                  <a:srgbClr val="3FA9F5"/>
                </a:solidFill>
                <a:latin typeface="Calibri" pitchFamily="34" charset="0"/>
                <a:ea typeface="Calibri" pitchFamily="34" charset="-122"/>
                <a:cs typeface="Calibri" pitchFamily="34" charset="-120"/>
              </a:rPr>
              <a:t>Casual riders</a:t>
            </a:r>
            <a:endParaRPr lang="en-US" sz="1600" dirty="0"/>
          </a:p>
        </p:txBody>
      </p:sp>
      <p:sp>
        <p:nvSpPr>
          <p:cNvPr id="9" name="Text 7"/>
          <p:cNvSpPr/>
          <p:nvPr/>
        </p:nvSpPr>
        <p:spPr>
          <a:xfrm>
            <a:off x="8321040" y="4133088"/>
            <a:ext cx="3383280" cy="1280160"/>
          </a:xfrm>
          <a:prstGeom prst="rect">
            <a:avLst/>
          </a:prstGeom>
          <a:noFill/>
          <a:ln/>
        </p:spPr>
        <p:txBody>
          <a:bodyPr wrap="square" lIns="0" tIns="0" rIns="0" bIns="0" rtlCol="0" anchor="ctr"/>
          <a:lstStyle/>
          <a:p>
            <a:pPr marL="0" indent="0">
              <a:lnSpc>
                <a:spcPts val="1900"/>
              </a:lnSpc>
              <a:buNone/>
            </a:pPr>
            <a:r>
              <a:rPr lang="en-US" sz="1300" dirty="0">
                <a:solidFill>
                  <a:srgbClr val="1A1A1A"/>
                </a:solidFill>
                <a:latin typeface="Calibri" pitchFamily="34" charset="0"/>
                <a:ea typeface="Calibri" pitchFamily="34" charset="-122"/>
                <a:cs typeface="Calibri" pitchFamily="34" charset="-120"/>
              </a:rPr>
              <a:t>No morning peak at all. One continuous rise from dawn to a broad late-afternoon hump.</a:t>
            </a:r>
            <a:endParaRPr lang="en-US" sz="1300" dirty="0"/>
          </a:p>
        </p:txBody>
      </p:sp>
      <p:sp>
        <p:nvSpPr>
          <p:cNvPr id="10" name="Text 8"/>
          <p:cNvSpPr/>
          <p:nvPr/>
        </p:nvSpPr>
        <p:spPr>
          <a:xfrm>
            <a:off x="457200" y="6023797"/>
            <a:ext cx="11247120" cy="468443"/>
          </a:xfrm>
          <a:prstGeom prst="rect">
            <a:avLst/>
          </a:prstGeom>
          <a:noFill/>
          <a:ln/>
        </p:spPr>
        <p:txBody>
          <a:bodyPr wrap="square" lIns="0" tIns="0" rIns="0" bIns="0" rtlCol="0" anchor="ctr"/>
          <a:lstStyle/>
          <a:p>
            <a:r>
              <a:rPr lang="en-US" sz="1200" i="1" dirty="0">
                <a:solidFill>
                  <a:srgbClr val="6B7280"/>
                </a:solidFill>
                <a:latin typeface="Calibri" pitchFamily="34" charset="0"/>
                <a:ea typeface="Calibri" pitchFamily="34" charset="-122"/>
                <a:cs typeface="Calibri" pitchFamily="34" charset="-120"/>
              </a:rPr>
              <a:t>Both groups reach their daily maximum at 5pm but members arrive there from a second daily peak while casual riders arrive from a climb with no morning counterpart.</a:t>
            </a:r>
          </a:p>
        </p:txBody>
      </p:sp>
      <p:pic>
        <p:nvPicPr>
          <p:cNvPr id="14" name="Picture 13">
            <a:extLst>
              <a:ext uri="{FF2B5EF4-FFF2-40B4-BE49-F238E27FC236}">
                <a16:creationId xmlns:a16="http://schemas.microsoft.com/office/drawing/2014/main" id="{48CAB492-DBEF-4B5F-EBA6-EB19570BDC28}"/>
              </a:ext>
            </a:extLst>
          </p:cNvPr>
          <p:cNvPicPr>
            <a:picLocks noChangeAspect="1"/>
          </p:cNvPicPr>
          <p:nvPr/>
        </p:nvPicPr>
        <p:blipFill>
          <a:blip r:embed="rId3"/>
          <a:srcRect l="1645" t="10400"/>
          <a:stretch>
            <a:fillRect/>
          </a:stretch>
        </p:blipFill>
        <p:spPr>
          <a:xfrm>
            <a:off x="665018" y="1610744"/>
            <a:ext cx="7140835" cy="431456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Casual riding nearly stops in winter</a:t>
            </a:r>
            <a:endParaRPr lang="en-US" sz="3000" dirty="0"/>
          </a:p>
        </p:txBody>
      </p:sp>
      <p:sp>
        <p:nvSpPr>
          <p:cNvPr id="3" name="Text 1"/>
          <p:cNvSpPr/>
          <p:nvPr/>
        </p:nvSpPr>
        <p:spPr>
          <a:xfrm>
            <a:off x="548640" y="1042416"/>
            <a:ext cx="11064240" cy="310896"/>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Rides by month, June 2025 to May 2026</a:t>
            </a:r>
            <a:endParaRPr lang="en-US" sz="1400" dirty="0"/>
          </a:p>
        </p:txBody>
      </p:sp>
      <p:graphicFrame>
        <p:nvGraphicFramePr>
          <p:cNvPr id="4" name="Chart 0"/>
          <p:cNvGraphicFramePr/>
          <p:nvPr/>
        </p:nvGraphicFramePr>
        <p:xfrm>
          <a:off x="457200" y="1600200"/>
          <a:ext cx="749808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4709160" y="5074920"/>
            <a:ext cx="1188720" cy="274320"/>
          </a:xfrm>
          <a:prstGeom prst="rect">
            <a:avLst/>
          </a:prstGeom>
          <a:noFill/>
          <a:ln/>
        </p:spPr>
        <p:txBody>
          <a:bodyPr wrap="square" lIns="0" tIns="0" rIns="0" bIns="0" rtlCol="0" anchor="ctr"/>
          <a:lstStyle/>
          <a:p>
            <a:pPr marL="0" indent="0">
              <a:buNone/>
            </a:pPr>
            <a:r>
              <a:rPr lang="en-US" sz="1300" b="1" dirty="0">
                <a:solidFill>
                  <a:srgbClr val="3FA9F5"/>
                </a:solidFill>
                <a:latin typeface="Calibri" pitchFamily="34" charset="0"/>
                <a:ea typeface="Calibri" pitchFamily="34" charset="-122"/>
                <a:cs typeface="Calibri" pitchFamily="34" charset="-120"/>
              </a:rPr>
              <a:t>Casual</a:t>
            </a:r>
            <a:endParaRPr lang="en-US" sz="1300" dirty="0"/>
          </a:p>
        </p:txBody>
      </p:sp>
      <p:sp>
        <p:nvSpPr>
          <p:cNvPr id="6" name="Text 3"/>
          <p:cNvSpPr/>
          <p:nvPr/>
        </p:nvSpPr>
        <p:spPr>
          <a:xfrm>
            <a:off x="4709160" y="3977640"/>
            <a:ext cx="1188720" cy="274320"/>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Member</a:t>
            </a:r>
            <a:endParaRPr lang="en-US" sz="1300" dirty="0"/>
          </a:p>
        </p:txBody>
      </p:sp>
      <p:sp>
        <p:nvSpPr>
          <p:cNvPr id="7" name="Text 4"/>
          <p:cNvSpPr/>
          <p:nvPr/>
        </p:nvSpPr>
        <p:spPr>
          <a:xfrm>
            <a:off x="8321040" y="1874520"/>
            <a:ext cx="3383280" cy="713232"/>
          </a:xfrm>
          <a:prstGeom prst="rect">
            <a:avLst/>
          </a:prstGeom>
          <a:noFill/>
          <a:ln/>
        </p:spPr>
        <p:txBody>
          <a:bodyPr wrap="square" lIns="0" tIns="0" rIns="0" bIns="0" rtlCol="0" anchor="ctr"/>
          <a:lstStyle/>
          <a:p>
            <a:pPr marL="0" indent="0">
              <a:buNone/>
            </a:pPr>
            <a:r>
              <a:rPr lang="en-US" sz="4400" b="1" dirty="0">
                <a:solidFill>
                  <a:srgbClr val="3FA9F5"/>
                </a:solidFill>
                <a:latin typeface="Cambria" pitchFamily="34" charset="0"/>
                <a:ea typeface="Cambria" pitchFamily="34" charset="-122"/>
                <a:cs typeface="Cambria" pitchFamily="34" charset="-120"/>
              </a:rPr>
              <a:t>13.6×</a:t>
            </a:r>
            <a:endParaRPr lang="en-US" sz="4400" dirty="0"/>
          </a:p>
        </p:txBody>
      </p:sp>
      <p:sp>
        <p:nvSpPr>
          <p:cNvPr id="8" name="Text 5"/>
          <p:cNvSpPr/>
          <p:nvPr/>
        </p:nvSpPr>
        <p:spPr>
          <a:xfrm>
            <a:off x="8321040" y="2606040"/>
            <a:ext cx="3383280" cy="548640"/>
          </a:xfrm>
          <a:prstGeom prst="rect">
            <a:avLst/>
          </a:prstGeom>
          <a:noFill/>
          <a:ln/>
        </p:spPr>
        <p:txBody>
          <a:bodyPr wrap="square" lIns="0" tIns="0" rIns="0" bIns="0" rtlCol="0" anchor="ctr"/>
          <a:lstStyle/>
          <a:p>
            <a:pPr marL="0" indent="0">
              <a:lnSpc>
                <a:spcPts val="1800"/>
              </a:lnSpc>
              <a:buNone/>
            </a:pPr>
            <a:r>
              <a:rPr lang="en-US" sz="1300" dirty="0">
                <a:solidFill>
                  <a:srgbClr val="1A1A1A"/>
                </a:solidFill>
                <a:latin typeface="Calibri" pitchFamily="34" charset="0"/>
                <a:ea typeface="Calibri" pitchFamily="34" charset="-122"/>
                <a:cs typeface="Calibri" pitchFamily="34" charset="-120"/>
              </a:rPr>
              <a:t>more casual rides in August than in January</a:t>
            </a:r>
            <a:endParaRPr lang="en-US" sz="1300" dirty="0"/>
          </a:p>
        </p:txBody>
      </p:sp>
      <p:sp>
        <p:nvSpPr>
          <p:cNvPr id="9" name="Text 6"/>
          <p:cNvSpPr/>
          <p:nvPr/>
        </p:nvSpPr>
        <p:spPr>
          <a:xfrm>
            <a:off x="8321040" y="3520440"/>
            <a:ext cx="3383280" cy="713232"/>
          </a:xfrm>
          <a:prstGeom prst="rect">
            <a:avLst/>
          </a:prstGeom>
          <a:noFill/>
          <a:ln/>
        </p:spPr>
        <p:txBody>
          <a:bodyPr wrap="square" lIns="0" tIns="0" rIns="0" bIns="0" rtlCol="0" anchor="ctr"/>
          <a:lstStyle/>
          <a:p>
            <a:pPr marL="0" indent="0">
              <a:buNone/>
            </a:pPr>
            <a:r>
              <a:rPr lang="en-US" sz="4400" b="1" dirty="0">
                <a:solidFill>
                  <a:srgbClr val="1E2761"/>
                </a:solidFill>
                <a:latin typeface="Cambria" pitchFamily="34" charset="0"/>
                <a:ea typeface="Cambria" pitchFamily="34" charset="-122"/>
                <a:cs typeface="Cambria" pitchFamily="34" charset="-120"/>
              </a:rPr>
              <a:t>4.0×</a:t>
            </a:r>
            <a:endParaRPr lang="en-US" sz="4400" dirty="0"/>
          </a:p>
        </p:txBody>
      </p:sp>
      <p:sp>
        <p:nvSpPr>
          <p:cNvPr id="10" name="Text 7"/>
          <p:cNvSpPr/>
          <p:nvPr/>
        </p:nvSpPr>
        <p:spPr>
          <a:xfrm>
            <a:off x="8321040" y="4251960"/>
            <a:ext cx="3383280" cy="731520"/>
          </a:xfrm>
          <a:prstGeom prst="rect">
            <a:avLst/>
          </a:prstGeom>
          <a:noFill/>
          <a:ln/>
        </p:spPr>
        <p:txBody>
          <a:bodyPr wrap="square" lIns="0" tIns="0" rIns="0" bIns="0" rtlCol="0" anchor="ctr"/>
          <a:lstStyle/>
          <a:p>
            <a:pPr marL="0" indent="0">
              <a:lnSpc>
                <a:spcPts val="1800"/>
              </a:lnSpc>
              <a:buNone/>
            </a:pPr>
            <a:r>
              <a:rPr lang="en-US" sz="1300" dirty="0">
                <a:solidFill>
                  <a:srgbClr val="1A1A1A"/>
                </a:solidFill>
                <a:latin typeface="Calibri" pitchFamily="34" charset="0"/>
                <a:ea typeface="Calibri" pitchFamily="34" charset="-122"/>
                <a:cs typeface="Calibri" pitchFamily="34" charset="-120"/>
              </a:rPr>
              <a:t>the same swing for members — they keep riding through winter</a:t>
            </a:r>
            <a:endParaRPr lang="en-US" sz="1300" dirty="0"/>
          </a:p>
        </p:txBody>
      </p:sp>
      <p:sp>
        <p:nvSpPr>
          <p:cNvPr id="11" name="Text 8"/>
          <p:cNvSpPr/>
          <p:nvPr/>
        </p:nvSpPr>
        <p:spPr>
          <a:xfrm>
            <a:off x="457200" y="6035040"/>
            <a:ext cx="11247120" cy="36576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In January, members outnumber casual riders 4.6 to 1. In August the ratio narrows to 1.4 to 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No overlap in where the two groups start</a:t>
            </a:r>
            <a:endParaRPr lang="en-US" sz="3000" dirty="0"/>
          </a:p>
        </p:txBody>
      </p:sp>
      <p:sp>
        <p:nvSpPr>
          <p:cNvPr id="3" name="Text 1"/>
          <p:cNvSpPr/>
          <p:nvPr/>
        </p:nvSpPr>
        <p:spPr>
          <a:xfrm>
            <a:off x="548640" y="1042416"/>
            <a:ext cx="11064240" cy="310896"/>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Top ten starting stations, by rider type</a:t>
            </a:r>
            <a:endParaRPr lang="en-US" sz="1400" dirty="0"/>
          </a:p>
        </p:txBody>
      </p:sp>
      <p:sp>
        <p:nvSpPr>
          <p:cNvPr id="4" name="Text 2"/>
          <p:cNvSpPr/>
          <p:nvPr/>
        </p:nvSpPr>
        <p:spPr>
          <a:xfrm>
            <a:off x="457200" y="1554480"/>
            <a:ext cx="5486400" cy="292608"/>
          </a:xfrm>
          <a:prstGeom prst="rect">
            <a:avLst/>
          </a:prstGeom>
          <a:noFill/>
          <a:ln/>
        </p:spPr>
        <p:txBody>
          <a:bodyPr wrap="square" lIns="0" tIns="0" rIns="0" bIns="0" rtlCol="0" anchor="ctr"/>
          <a:lstStyle/>
          <a:p>
            <a:pPr marL="0" indent="0">
              <a:buNone/>
            </a:pPr>
            <a:r>
              <a:rPr lang="en-US" sz="1400" b="1" dirty="0">
                <a:solidFill>
                  <a:srgbClr val="3FA9F5"/>
                </a:solidFill>
                <a:latin typeface="Calibri" pitchFamily="34" charset="0"/>
                <a:ea typeface="Calibri" pitchFamily="34" charset="-122"/>
                <a:cs typeface="Calibri" pitchFamily="34" charset="-120"/>
              </a:rPr>
              <a:t>Casual — lakefront and attractions</a:t>
            </a:r>
            <a:endParaRPr lang="en-US" sz="1400" dirty="0"/>
          </a:p>
        </p:txBody>
      </p:sp>
      <p:graphicFrame>
        <p:nvGraphicFramePr>
          <p:cNvPr id="5" name="Chart 0"/>
          <p:cNvGraphicFramePr/>
          <p:nvPr/>
        </p:nvGraphicFramePr>
        <p:xfrm>
          <a:off x="320040" y="1874520"/>
          <a:ext cx="5760720" cy="38404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263640" y="1554480"/>
            <a:ext cx="5486400" cy="292608"/>
          </a:xfrm>
          <a:prstGeom prst="rect">
            <a:avLst/>
          </a:prstGeom>
          <a:noFill/>
          <a:ln/>
        </p:spPr>
        <p:txBody>
          <a:bodyPr wrap="square" lIns="0" tIns="0" rIns="0" bIns="0" rtlCol="0" anchor="ctr"/>
          <a:lstStyle/>
          <a:p>
            <a:pPr marL="0" indent="0">
              <a:buNone/>
            </a:pPr>
            <a:r>
              <a:rPr lang="en-US" sz="1400" b="1" dirty="0">
                <a:solidFill>
                  <a:srgbClr val="1E2761"/>
                </a:solidFill>
                <a:latin typeface="Calibri" pitchFamily="34" charset="0"/>
                <a:ea typeface="Calibri" pitchFamily="34" charset="-122"/>
                <a:cs typeface="Calibri" pitchFamily="34" charset="-120"/>
              </a:rPr>
              <a:t>Member — West Loop and Near North Side</a:t>
            </a:r>
            <a:endParaRPr lang="en-US" sz="1400" dirty="0"/>
          </a:p>
        </p:txBody>
      </p:sp>
      <p:graphicFrame>
        <p:nvGraphicFramePr>
          <p:cNvPr id="7" name="Chart 1"/>
          <p:cNvGraphicFramePr/>
          <p:nvPr/>
        </p:nvGraphicFramePr>
        <p:xfrm>
          <a:off x="6126480" y="1874520"/>
          <a:ext cx="5760720" cy="384048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4"/>
          <p:cNvSpPr/>
          <p:nvPr/>
        </p:nvSpPr>
        <p:spPr>
          <a:xfrm>
            <a:off x="457200" y="5989320"/>
            <a:ext cx="11247120" cy="411480"/>
          </a:xfrm>
          <a:prstGeom prst="rect">
            <a:avLst/>
          </a:prstGeom>
          <a:noFill/>
          <a:ln/>
        </p:spPr>
        <p:txBody>
          <a:bodyPr wrap="square" lIns="0" tIns="0" rIns="0" bIns="0" rtlCol="0" anchor="ctr"/>
          <a:lstStyle/>
          <a:p>
            <a:r>
              <a:rPr lang="en-US" sz="1200" dirty="0"/>
              <a:t>Casual riding also concentrates: Navy Pier alone runs 72% above the busiest member station. Member volume spreads evenly across all ten.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609600" y="109728"/>
            <a:ext cx="10856827" cy="97840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Three recommendations</a:t>
            </a:r>
            <a:endParaRPr lang="en-US" sz="3200" dirty="0"/>
          </a:p>
        </p:txBody>
      </p:sp>
      <p:grpSp>
        <p:nvGrpSpPr>
          <p:cNvPr id="15" name="Group 14">
            <a:extLst>
              <a:ext uri="{FF2B5EF4-FFF2-40B4-BE49-F238E27FC236}">
                <a16:creationId xmlns:a16="http://schemas.microsoft.com/office/drawing/2014/main" id="{13166DE2-1DC7-BC57-3FDB-4989C5706CEA}"/>
              </a:ext>
            </a:extLst>
          </p:cNvPr>
          <p:cNvGrpSpPr/>
          <p:nvPr/>
        </p:nvGrpSpPr>
        <p:grpSpPr>
          <a:xfrm>
            <a:off x="551613" y="1104528"/>
            <a:ext cx="10972800" cy="1538088"/>
            <a:chOff x="609600" y="1435608"/>
            <a:chExt cx="10972800" cy="1371600"/>
          </a:xfrm>
        </p:grpSpPr>
        <p:sp>
          <p:nvSpPr>
            <p:cNvPr id="3" name="Shape 1"/>
            <p:cNvSpPr/>
            <p:nvPr/>
          </p:nvSpPr>
          <p:spPr>
            <a:xfrm>
              <a:off x="609600" y="1435608"/>
              <a:ext cx="10972800" cy="1371600"/>
            </a:xfrm>
            <a:prstGeom prst="rect">
              <a:avLst/>
            </a:prstGeom>
            <a:solidFill>
              <a:srgbClr val="2A3573"/>
            </a:solidFill>
            <a:ln/>
          </p:spPr>
          <p:txBody>
            <a:bodyPr/>
            <a:lstStyle/>
            <a:p>
              <a:endParaRPr lang="en-US"/>
            </a:p>
          </p:txBody>
        </p:sp>
        <p:sp>
          <p:nvSpPr>
            <p:cNvPr id="4" name="Text 2"/>
            <p:cNvSpPr/>
            <p:nvPr/>
          </p:nvSpPr>
          <p:spPr>
            <a:xfrm>
              <a:off x="914400" y="1737360"/>
              <a:ext cx="914400" cy="640080"/>
            </a:xfrm>
            <a:prstGeom prst="rect">
              <a:avLst/>
            </a:prstGeom>
            <a:noFill/>
            <a:ln/>
          </p:spPr>
          <p:txBody>
            <a:bodyPr wrap="square" lIns="0" tIns="0" rIns="0" bIns="0" rtlCol="0" anchor="ctr"/>
            <a:lstStyle/>
            <a:p>
              <a:pPr marL="0" indent="0">
                <a:buNone/>
              </a:pPr>
              <a:r>
                <a:rPr lang="en-US" sz="3200" b="1" dirty="0">
                  <a:solidFill>
                    <a:srgbClr val="3FA9F5"/>
                  </a:solidFill>
                  <a:latin typeface="Cambria" pitchFamily="34" charset="0"/>
                  <a:ea typeface="Cambria" pitchFamily="34" charset="-122"/>
                  <a:cs typeface="Cambria" pitchFamily="34" charset="-120"/>
                </a:rPr>
                <a:t>01</a:t>
              </a:r>
              <a:endParaRPr lang="en-US" sz="3200" dirty="0"/>
            </a:p>
          </p:txBody>
        </p:sp>
        <p:sp>
          <p:nvSpPr>
            <p:cNvPr id="5" name="Text 3"/>
            <p:cNvSpPr/>
            <p:nvPr/>
          </p:nvSpPr>
          <p:spPr>
            <a:xfrm>
              <a:off x="1920240" y="1600200"/>
              <a:ext cx="9326880" cy="347472"/>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Drop the commuter-value pitch</a:t>
              </a:r>
              <a:endParaRPr lang="en-US" sz="2000" dirty="0"/>
            </a:p>
          </p:txBody>
        </p:sp>
        <p:sp>
          <p:nvSpPr>
            <p:cNvPr id="6" name="Text 4"/>
            <p:cNvSpPr/>
            <p:nvPr/>
          </p:nvSpPr>
          <p:spPr>
            <a:xfrm>
              <a:off x="1920240" y="1984248"/>
              <a:ext cx="9326880" cy="731520"/>
            </a:xfrm>
            <a:prstGeom prst="rect">
              <a:avLst/>
            </a:prstGeom>
            <a:noFill/>
            <a:ln/>
          </p:spPr>
          <p:txBody>
            <a:bodyPr wrap="square" lIns="0" tIns="0" rIns="0" bIns="0" rtlCol="0" anchor="ctr"/>
            <a:lstStyle/>
            <a:p>
              <a:pPr>
                <a:lnSpc>
                  <a:spcPts val="1700"/>
                </a:lnSpc>
              </a:pPr>
              <a:r>
                <a:rPr lang="en-US" sz="1600" dirty="0">
                  <a:solidFill>
                    <a:srgbClr val="CADCFC"/>
                  </a:solidFill>
                  <a:latin typeface="Calibri" pitchFamily="34" charset="0"/>
                  <a:ea typeface="Calibri" pitchFamily="34" charset="-122"/>
                  <a:cs typeface="Calibri" pitchFamily="34" charset="-120"/>
                </a:rPr>
                <a:t>Casual rides cluster on Saturday and Sunday and nearly stop in winter. The savings argument for membership assumes frequent use, and casual riding is not frequent. Cyclistic should stop selling membership to this group on commuting savings, because the case rests on a pattern of use these riders do not have.</a:t>
              </a:r>
            </a:p>
          </p:txBody>
        </p:sp>
      </p:grpSp>
      <p:grpSp>
        <p:nvGrpSpPr>
          <p:cNvPr id="16" name="Group 15">
            <a:extLst>
              <a:ext uri="{FF2B5EF4-FFF2-40B4-BE49-F238E27FC236}">
                <a16:creationId xmlns:a16="http://schemas.microsoft.com/office/drawing/2014/main" id="{737627AC-0186-1630-6D8F-75CE02D43E5B}"/>
              </a:ext>
            </a:extLst>
          </p:cNvPr>
          <p:cNvGrpSpPr/>
          <p:nvPr/>
        </p:nvGrpSpPr>
        <p:grpSpPr>
          <a:xfrm>
            <a:off x="551612" y="2944368"/>
            <a:ext cx="10972800" cy="1636776"/>
            <a:chOff x="640080" y="3072384"/>
            <a:chExt cx="10972800" cy="1371600"/>
          </a:xfrm>
        </p:grpSpPr>
        <p:sp>
          <p:nvSpPr>
            <p:cNvPr id="7" name="Shape 5"/>
            <p:cNvSpPr/>
            <p:nvPr/>
          </p:nvSpPr>
          <p:spPr>
            <a:xfrm>
              <a:off x="640080" y="3072384"/>
              <a:ext cx="10972800" cy="1371600"/>
            </a:xfrm>
            <a:prstGeom prst="rect">
              <a:avLst/>
            </a:prstGeom>
            <a:solidFill>
              <a:srgbClr val="2A3573"/>
            </a:solidFill>
            <a:ln/>
          </p:spPr>
          <p:txBody>
            <a:bodyPr/>
            <a:lstStyle/>
            <a:p>
              <a:endParaRPr lang="en-US" dirty="0"/>
            </a:p>
          </p:txBody>
        </p:sp>
        <p:sp>
          <p:nvSpPr>
            <p:cNvPr id="8" name="Text 6"/>
            <p:cNvSpPr/>
            <p:nvPr/>
          </p:nvSpPr>
          <p:spPr>
            <a:xfrm>
              <a:off x="914400" y="3337560"/>
              <a:ext cx="914400" cy="640080"/>
            </a:xfrm>
            <a:prstGeom prst="rect">
              <a:avLst/>
            </a:prstGeom>
            <a:noFill/>
            <a:ln/>
          </p:spPr>
          <p:txBody>
            <a:bodyPr wrap="square" lIns="0" tIns="0" rIns="0" bIns="0" rtlCol="0" anchor="ctr"/>
            <a:lstStyle/>
            <a:p>
              <a:pPr marL="0" indent="0">
                <a:buNone/>
              </a:pPr>
              <a:r>
                <a:rPr lang="en-US" sz="3200" b="1" dirty="0">
                  <a:solidFill>
                    <a:srgbClr val="3FA9F5"/>
                  </a:solidFill>
                  <a:latin typeface="Cambria" pitchFamily="34" charset="0"/>
                  <a:ea typeface="Cambria" pitchFamily="34" charset="-122"/>
                  <a:cs typeface="Cambria" pitchFamily="34" charset="-120"/>
                </a:rPr>
                <a:t>02</a:t>
              </a:r>
              <a:endParaRPr lang="en-US" sz="3200" dirty="0"/>
            </a:p>
          </p:txBody>
        </p:sp>
        <p:sp>
          <p:nvSpPr>
            <p:cNvPr id="9" name="Text 7"/>
            <p:cNvSpPr/>
            <p:nvPr/>
          </p:nvSpPr>
          <p:spPr>
            <a:xfrm>
              <a:off x="1828800" y="3123345"/>
              <a:ext cx="9326880" cy="347472"/>
            </a:xfrm>
            <a:prstGeom prst="rect">
              <a:avLst/>
            </a:prstGeom>
            <a:solidFill>
              <a:srgbClr val="2A3573"/>
            </a:solidFill>
            <a:ln/>
          </p:spPr>
          <p:txBody>
            <a:bodyPr/>
            <a:lstStyle/>
            <a:p>
              <a:r>
                <a:rPr lang="en-US" sz="2000" b="1" dirty="0">
                  <a:solidFill>
                    <a:srgbClr val="FFFFFF"/>
                  </a:solidFill>
                  <a:latin typeface="Calibri" pitchFamily="34" charset="0"/>
                  <a:ea typeface="Calibri" pitchFamily="34" charset="-122"/>
                  <a:cs typeface="Calibri" pitchFamily="34" charset="-120"/>
                </a:rPr>
                <a:t>Offer a shorter or seasonal membership</a:t>
              </a:r>
            </a:p>
          </p:txBody>
        </p:sp>
        <p:sp>
          <p:nvSpPr>
            <p:cNvPr id="10" name="Text 8"/>
            <p:cNvSpPr/>
            <p:nvPr/>
          </p:nvSpPr>
          <p:spPr>
            <a:xfrm>
              <a:off x="1920240" y="3584448"/>
              <a:ext cx="9326880" cy="731520"/>
            </a:xfrm>
            <a:prstGeom prst="rect">
              <a:avLst/>
            </a:prstGeom>
            <a:noFill/>
            <a:ln/>
          </p:spPr>
          <p:txBody>
            <a:bodyPr wrap="square" lIns="0" tIns="0" rIns="0" bIns="0" rtlCol="0" anchor="ctr"/>
            <a:lstStyle/>
            <a:p>
              <a:pPr>
                <a:lnSpc>
                  <a:spcPts val="1700"/>
                </a:lnSpc>
              </a:pPr>
              <a:r>
                <a:rPr lang="en-US" sz="1600" dirty="0">
                  <a:solidFill>
                    <a:srgbClr val="CADCFC"/>
                  </a:solidFill>
                  <a:latin typeface="Calibri" pitchFamily="34" charset="0"/>
                  <a:ea typeface="Calibri" pitchFamily="34" charset="-122"/>
                  <a:cs typeface="Calibri" pitchFamily="34" charset="-120"/>
                </a:rPr>
                <a:t>Seventy percent of casual riding falls in five months, so an annual pass asks riders to pay for a year to use it for less than half of one. Cyclistic should offer a monthly or summer-season option instead. The data can't say which is better, as it holds no pricing or revenue.</a:t>
              </a:r>
            </a:p>
          </p:txBody>
        </p:sp>
      </p:grpSp>
      <p:grpSp>
        <p:nvGrpSpPr>
          <p:cNvPr id="17" name="Group 16">
            <a:extLst>
              <a:ext uri="{FF2B5EF4-FFF2-40B4-BE49-F238E27FC236}">
                <a16:creationId xmlns:a16="http://schemas.microsoft.com/office/drawing/2014/main" id="{14CD0B44-A68E-1384-1283-1AE560E7A69B}"/>
              </a:ext>
            </a:extLst>
          </p:cNvPr>
          <p:cNvGrpSpPr/>
          <p:nvPr/>
        </p:nvGrpSpPr>
        <p:grpSpPr>
          <a:xfrm>
            <a:off x="551612" y="4883100"/>
            <a:ext cx="10972800" cy="1540001"/>
            <a:chOff x="640080" y="4617720"/>
            <a:chExt cx="10972800" cy="1371600"/>
          </a:xfrm>
        </p:grpSpPr>
        <p:sp>
          <p:nvSpPr>
            <p:cNvPr id="11" name="Shape 9"/>
            <p:cNvSpPr/>
            <p:nvPr/>
          </p:nvSpPr>
          <p:spPr>
            <a:xfrm>
              <a:off x="640080" y="4617720"/>
              <a:ext cx="10972800" cy="1371600"/>
            </a:xfrm>
            <a:prstGeom prst="rect">
              <a:avLst/>
            </a:prstGeom>
            <a:solidFill>
              <a:srgbClr val="2A3573"/>
            </a:solidFill>
            <a:ln/>
          </p:spPr>
          <p:txBody>
            <a:bodyPr/>
            <a:lstStyle/>
            <a:p>
              <a:endParaRPr lang="en-US" dirty="0"/>
            </a:p>
          </p:txBody>
        </p:sp>
        <p:sp>
          <p:nvSpPr>
            <p:cNvPr id="12" name="Text 10"/>
            <p:cNvSpPr/>
            <p:nvPr/>
          </p:nvSpPr>
          <p:spPr>
            <a:xfrm>
              <a:off x="914400" y="4937760"/>
              <a:ext cx="914400" cy="640080"/>
            </a:xfrm>
            <a:prstGeom prst="rect">
              <a:avLst/>
            </a:prstGeom>
            <a:noFill/>
            <a:ln/>
          </p:spPr>
          <p:txBody>
            <a:bodyPr wrap="square" lIns="0" tIns="0" rIns="0" bIns="0" rtlCol="0" anchor="ctr"/>
            <a:lstStyle/>
            <a:p>
              <a:pPr marL="0" indent="0">
                <a:buNone/>
              </a:pPr>
              <a:r>
                <a:rPr lang="en-US" sz="3200" b="1" dirty="0">
                  <a:solidFill>
                    <a:srgbClr val="3FA9F5"/>
                  </a:solidFill>
                  <a:latin typeface="Cambria" pitchFamily="34" charset="0"/>
                  <a:ea typeface="Cambria" pitchFamily="34" charset="-122"/>
                  <a:cs typeface="Cambria" pitchFamily="34" charset="-120"/>
                </a:rPr>
                <a:t>03</a:t>
              </a:r>
              <a:endParaRPr lang="en-US" sz="3200" dirty="0"/>
            </a:p>
          </p:txBody>
        </p:sp>
        <p:sp>
          <p:nvSpPr>
            <p:cNvPr id="13" name="Text 11"/>
            <p:cNvSpPr/>
            <p:nvPr/>
          </p:nvSpPr>
          <p:spPr>
            <a:xfrm>
              <a:off x="1920240" y="4800600"/>
              <a:ext cx="9326880" cy="347472"/>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Target by place and time</a:t>
              </a:r>
            </a:p>
          </p:txBody>
        </p:sp>
        <p:sp>
          <p:nvSpPr>
            <p:cNvPr id="14" name="Text 12"/>
            <p:cNvSpPr/>
            <p:nvPr/>
          </p:nvSpPr>
          <p:spPr>
            <a:xfrm>
              <a:off x="1920240" y="5184648"/>
              <a:ext cx="9326880" cy="731520"/>
            </a:xfrm>
            <a:prstGeom prst="rect">
              <a:avLst/>
            </a:prstGeom>
            <a:noFill/>
            <a:ln/>
          </p:spPr>
          <p:txBody>
            <a:bodyPr wrap="square" lIns="0" tIns="0" rIns="0" bIns="0" rtlCol="0" anchor="ctr"/>
            <a:lstStyle/>
            <a:p>
              <a:pPr>
                <a:lnSpc>
                  <a:spcPts val="1700"/>
                </a:lnSpc>
              </a:pPr>
              <a:r>
                <a:rPr lang="en-US" sz="1600" dirty="0">
                  <a:solidFill>
                    <a:srgbClr val="CADCFC"/>
                  </a:solidFill>
                  <a:latin typeface="Calibri" pitchFamily="34" charset="0"/>
                  <a:ea typeface="Calibri" pitchFamily="34" charset="-122"/>
                  <a:cs typeface="Calibri" pitchFamily="34" charset="-120"/>
                </a:rPr>
                <a:t>Casual rides start at a small number of stations, mainly Navy Pier, Millennium Park and the lakefront, and concentrate on summer weekend afternoons. Cyclistic should focus marketing at those stations and times rather than spreading it across the network, as the concentration makes the audience easy to reach.</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84048"/>
            <a:ext cx="11064240" cy="658368"/>
          </a:xfrm>
          <a:prstGeom prst="rect">
            <a:avLst/>
          </a:prstGeom>
          <a:noFill/>
          <a:ln/>
        </p:spPr>
        <p:txBody>
          <a:bodyPr wrap="square" lIns="0" tIns="0" rIns="0" bIns="0"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What this analysis cannot tell you</a:t>
            </a:r>
            <a:endParaRPr lang="en-US" sz="3000" dirty="0"/>
          </a:p>
        </p:txBody>
      </p:sp>
      <p:sp>
        <p:nvSpPr>
          <p:cNvPr id="3" name="Text 1"/>
          <p:cNvSpPr/>
          <p:nvPr/>
        </p:nvSpPr>
        <p:spPr>
          <a:xfrm>
            <a:off x="548640" y="1042416"/>
            <a:ext cx="11064240" cy="310896"/>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Stated up front, because each one bounds a recommendation</a:t>
            </a:r>
            <a:endParaRPr lang="en-US" sz="1400" dirty="0"/>
          </a:p>
        </p:txBody>
      </p:sp>
      <p:sp>
        <p:nvSpPr>
          <p:cNvPr id="4" name="Shape 2"/>
          <p:cNvSpPr/>
          <p:nvPr/>
        </p:nvSpPr>
        <p:spPr>
          <a:xfrm>
            <a:off x="548640" y="1783080"/>
            <a:ext cx="5440680" cy="1828800"/>
          </a:xfrm>
          <a:prstGeom prst="rect">
            <a:avLst/>
          </a:prstGeom>
          <a:solidFill>
            <a:srgbClr val="F4F6FA"/>
          </a:solidFill>
          <a:ln/>
        </p:spPr>
        <p:txBody>
          <a:bodyPr/>
          <a:lstStyle/>
          <a:p>
            <a:endParaRPr lang="en-US"/>
          </a:p>
        </p:txBody>
      </p:sp>
      <p:sp>
        <p:nvSpPr>
          <p:cNvPr id="5" name="Text 3"/>
          <p:cNvSpPr/>
          <p:nvPr/>
        </p:nvSpPr>
        <p:spPr>
          <a:xfrm>
            <a:off x="868680" y="2039112"/>
            <a:ext cx="4800600" cy="329184"/>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No rider identifiers</a:t>
            </a:r>
            <a:endParaRPr lang="en-US" sz="1500" dirty="0"/>
          </a:p>
        </p:txBody>
      </p:sp>
      <p:sp>
        <p:nvSpPr>
          <p:cNvPr id="6" name="Text 4"/>
          <p:cNvSpPr/>
          <p:nvPr/>
        </p:nvSpPr>
        <p:spPr>
          <a:xfrm>
            <a:off x="868680" y="2441448"/>
            <a:ext cx="4800600" cy="1005840"/>
          </a:xfrm>
          <a:prstGeom prst="rect">
            <a:avLst/>
          </a:prstGeom>
          <a:noFill/>
          <a:ln/>
        </p:spPr>
        <p:txBody>
          <a:bodyPr wrap="square" lIns="0" tIns="0" rIns="0" bIns="0" rtlCol="0" anchor="ctr"/>
          <a:lstStyle/>
          <a:p>
            <a:pPr marL="0" indent="0">
              <a:lnSpc>
                <a:spcPts val="1700"/>
              </a:lnSpc>
              <a:buNone/>
            </a:pPr>
            <a:r>
              <a:rPr lang="en-US" sz="1250" dirty="0">
                <a:solidFill>
                  <a:srgbClr val="1A1A1A"/>
                </a:solidFill>
                <a:latin typeface="Calibri" pitchFamily="34" charset="0"/>
                <a:ea typeface="Calibri" pitchFamily="34" charset="-122"/>
                <a:cs typeface="Calibri" pitchFamily="34" charset="-120"/>
              </a:rPr>
              <a:t>Ride counts are not rider counts. One casual rider taking fifty trips looks identical to fifty riders taking one. The number of casual riders who could become members is unknown.</a:t>
            </a:r>
            <a:endParaRPr lang="en-US" sz="1250" dirty="0"/>
          </a:p>
        </p:txBody>
      </p:sp>
      <p:sp>
        <p:nvSpPr>
          <p:cNvPr id="7" name="Shape 5"/>
          <p:cNvSpPr/>
          <p:nvPr/>
        </p:nvSpPr>
        <p:spPr>
          <a:xfrm>
            <a:off x="6355080" y="1783080"/>
            <a:ext cx="5440680" cy="1828800"/>
          </a:xfrm>
          <a:prstGeom prst="rect">
            <a:avLst/>
          </a:prstGeom>
          <a:solidFill>
            <a:srgbClr val="F4F6FA"/>
          </a:solidFill>
          <a:ln/>
        </p:spPr>
        <p:txBody>
          <a:bodyPr/>
          <a:lstStyle/>
          <a:p>
            <a:endParaRPr lang="en-US"/>
          </a:p>
        </p:txBody>
      </p:sp>
      <p:sp>
        <p:nvSpPr>
          <p:cNvPr id="8" name="Text 6"/>
          <p:cNvSpPr/>
          <p:nvPr/>
        </p:nvSpPr>
        <p:spPr>
          <a:xfrm>
            <a:off x="6675120" y="2039112"/>
            <a:ext cx="4800600" cy="329184"/>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21% of rides lack station data</a:t>
            </a:r>
            <a:endParaRPr lang="en-US" sz="1500" dirty="0"/>
          </a:p>
        </p:txBody>
      </p:sp>
      <p:sp>
        <p:nvSpPr>
          <p:cNvPr id="9" name="Text 7"/>
          <p:cNvSpPr/>
          <p:nvPr/>
        </p:nvSpPr>
        <p:spPr>
          <a:xfrm>
            <a:off x="6675120" y="2441448"/>
            <a:ext cx="4800600" cy="1005840"/>
          </a:xfrm>
          <a:prstGeom prst="rect">
            <a:avLst/>
          </a:prstGeom>
          <a:noFill/>
          <a:ln/>
        </p:spPr>
        <p:txBody>
          <a:bodyPr wrap="square" lIns="0" tIns="0" rIns="0" bIns="0" rtlCol="0" anchor="ctr"/>
          <a:lstStyle/>
          <a:p>
            <a:pPr marL="0" indent="0">
              <a:lnSpc>
                <a:spcPts val="1700"/>
              </a:lnSpc>
              <a:buNone/>
            </a:pPr>
            <a:r>
              <a:rPr lang="en-US" sz="1250" dirty="0">
                <a:solidFill>
                  <a:srgbClr val="1A1A1A"/>
                </a:solidFill>
                <a:latin typeface="Calibri" pitchFamily="34" charset="0"/>
                <a:ea typeface="Calibri" pitchFamily="34" charset="-122"/>
                <a:cs typeface="Calibri" pitchFamily="34" charset="-120"/>
              </a:rPr>
              <a:t>All on electric bikes, which can be locked anywhere. Geographic findings therefore rest disproportionately on dock-based trips.</a:t>
            </a:r>
            <a:endParaRPr lang="en-US" sz="1250" dirty="0"/>
          </a:p>
        </p:txBody>
      </p:sp>
      <p:sp>
        <p:nvSpPr>
          <p:cNvPr id="10" name="Shape 8"/>
          <p:cNvSpPr/>
          <p:nvPr/>
        </p:nvSpPr>
        <p:spPr>
          <a:xfrm>
            <a:off x="548640" y="3931920"/>
            <a:ext cx="5440680" cy="1828800"/>
          </a:xfrm>
          <a:prstGeom prst="rect">
            <a:avLst/>
          </a:prstGeom>
          <a:solidFill>
            <a:srgbClr val="F4F6FA"/>
          </a:solidFill>
          <a:ln/>
        </p:spPr>
        <p:txBody>
          <a:bodyPr/>
          <a:lstStyle/>
          <a:p>
            <a:endParaRPr lang="en-US"/>
          </a:p>
        </p:txBody>
      </p:sp>
      <p:sp>
        <p:nvSpPr>
          <p:cNvPr id="11" name="Text 9"/>
          <p:cNvSpPr/>
          <p:nvPr/>
        </p:nvSpPr>
        <p:spPr>
          <a:xfrm>
            <a:off x="868680" y="4187952"/>
            <a:ext cx="4800600" cy="329184"/>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Winter casual riders may differ</a:t>
            </a:r>
            <a:endParaRPr lang="en-US" sz="1500" dirty="0"/>
          </a:p>
        </p:txBody>
      </p:sp>
      <p:sp>
        <p:nvSpPr>
          <p:cNvPr id="12" name="Text 10"/>
          <p:cNvSpPr/>
          <p:nvPr/>
        </p:nvSpPr>
        <p:spPr>
          <a:xfrm>
            <a:off x="868680" y="4590288"/>
            <a:ext cx="4800600" cy="1005840"/>
          </a:xfrm>
          <a:prstGeom prst="rect">
            <a:avLst/>
          </a:prstGeom>
          <a:noFill/>
          <a:ln/>
        </p:spPr>
        <p:txBody>
          <a:bodyPr wrap="square" lIns="0" tIns="0" rIns="0" bIns="0" rtlCol="0" anchor="ctr"/>
          <a:lstStyle/>
          <a:p>
            <a:pPr marL="0" indent="0">
              <a:lnSpc>
                <a:spcPts val="1700"/>
              </a:lnSpc>
              <a:buNone/>
            </a:pPr>
            <a:r>
              <a:rPr lang="en-US" sz="1250" dirty="0">
                <a:solidFill>
                  <a:srgbClr val="1A1A1A"/>
                </a:solidFill>
                <a:latin typeface="Calibri" pitchFamily="34" charset="0"/>
                <a:ea typeface="Calibri" pitchFamily="34" charset="-122"/>
                <a:cs typeface="Calibri" pitchFamily="34" charset="-120"/>
              </a:rPr>
              <a:t>Those still riding in January could be a distinct group rather than the same people riding less. Without rider IDs this cannot be tested.</a:t>
            </a:r>
            <a:endParaRPr lang="en-US" sz="1250" dirty="0"/>
          </a:p>
        </p:txBody>
      </p:sp>
      <p:sp>
        <p:nvSpPr>
          <p:cNvPr id="13" name="Shape 11"/>
          <p:cNvSpPr/>
          <p:nvPr/>
        </p:nvSpPr>
        <p:spPr>
          <a:xfrm>
            <a:off x="6355080" y="3931920"/>
            <a:ext cx="5440680" cy="1828800"/>
          </a:xfrm>
          <a:prstGeom prst="rect">
            <a:avLst/>
          </a:prstGeom>
          <a:solidFill>
            <a:srgbClr val="F4F6FA"/>
          </a:solidFill>
          <a:ln/>
        </p:spPr>
        <p:txBody>
          <a:bodyPr/>
          <a:lstStyle/>
          <a:p>
            <a:endParaRPr lang="en-US"/>
          </a:p>
        </p:txBody>
      </p:sp>
      <p:sp>
        <p:nvSpPr>
          <p:cNvPr id="14" name="Text 12"/>
          <p:cNvSpPr/>
          <p:nvPr/>
        </p:nvSpPr>
        <p:spPr>
          <a:xfrm>
            <a:off x="6675120" y="4187952"/>
            <a:ext cx="4800600" cy="329184"/>
          </a:xfrm>
          <a:prstGeom prst="rect">
            <a:avLst/>
          </a:prstGeom>
          <a:noFill/>
          <a:ln/>
        </p:spPr>
        <p:txBody>
          <a:bodyPr wrap="square" lIns="0" tIns="0" rIns="0" bIns="0"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One year of data</a:t>
            </a:r>
            <a:endParaRPr lang="en-US" sz="1500" dirty="0"/>
          </a:p>
        </p:txBody>
      </p:sp>
      <p:sp>
        <p:nvSpPr>
          <p:cNvPr id="15" name="Text 13"/>
          <p:cNvSpPr/>
          <p:nvPr/>
        </p:nvSpPr>
        <p:spPr>
          <a:xfrm>
            <a:off x="6675120" y="4590288"/>
            <a:ext cx="4800600" cy="1005840"/>
          </a:xfrm>
          <a:prstGeom prst="rect">
            <a:avLst/>
          </a:prstGeom>
          <a:noFill/>
          <a:ln/>
        </p:spPr>
        <p:txBody>
          <a:bodyPr wrap="square" lIns="0" tIns="0" rIns="0" bIns="0" rtlCol="0" anchor="ctr"/>
          <a:lstStyle/>
          <a:p>
            <a:pPr marL="0" indent="0">
              <a:lnSpc>
                <a:spcPts val="1700"/>
              </a:lnSpc>
              <a:buNone/>
            </a:pPr>
            <a:r>
              <a:rPr lang="en-US" sz="1250" dirty="0">
                <a:solidFill>
                  <a:srgbClr val="1A1A1A"/>
                </a:solidFill>
                <a:latin typeface="Calibri" pitchFamily="34" charset="0"/>
                <a:ea typeface="Calibri" pitchFamily="34" charset="-122"/>
                <a:cs typeface="Calibri" pitchFamily="34" charset="-120"/>
              </a:rPr>
              <a:t>Seasonal patterns may partly reflect this year's weather rather than a stable annual cycle.</a:t>
            </a:r>
            <a:endParaRPr lang="en-US" sz="1250" dirty="0"/>
          </a:p>
        </p:txBody>
      </p:sp>
      <p:sp>
        <p:nvSpPr>
          <p:cNvPr id="16" name="Text 14"/>
          <p:cNvSpPr/>
          <p:nvPr/>
        </p:nvSpPr>
        <p:spPr>
          <a:xfrm>
            <a:off x="548640" y="6172200"/>
            <a:ext cx="11155680" cy="32004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A timezone error was found and corrected during analysis; the detection and fix are documented in the process notes.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b31a5d86-6dda-4457-85e5-c55bbc07923d}" enabled="0" method="" siteId="{b31a5d86-6dda-4457-85e5-c55bbc07923d}" removed="1"/>
</clbl:labelList>
</file>

<file path=docProps/app.xml><?xml version="1.0" encoding="utf-8"?>
<Properties xmlns="http://schemas.openxmlformats.org/officeDocument/2006/extended-properties" xmlns:vt="http://schemas.openxmlformats.org/officeDocument/2006/docPropsVTypes">
  <TotalTime>7198</TotalTime>
  <Words>854</Words>
  <Application>Microsoft Office PowerPoint</Application>
  <PresentationFormat>Widescreen</PresentationFormat>
  <Paragraphs>73</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Myat T Kyu</cp:lastModifiedBy>
  <cp:revision>3</cp:revision>
  <dcterms:created xsi:type="dcterms:W3CDTF">2026-08-11T13:45:15Z</dcterms:created>
  <dcterms:modified xsi:type="dcterms:W3CDTF">2026-08-20T10:52:17Z</dcterms:modified>
</cp:coreProperties>
</file>